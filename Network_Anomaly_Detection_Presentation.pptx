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Anomalies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472C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2DE-4A6B-ABE3-27982A110109}"/>
              </c:ext>
            </c:extLst>
          </c:dPt>
          <c:dPt>
            <c:idx val="1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2DE-4A6B-ABE3-27982A110109}"/>
              </c:ext>
            </c:extLst>
          </c:dPt>
          <c:dPt>
            <c:idx val="2"/>
            <c:invertIfNegative val="0"/>
            <c:bubble3D val="0"/>
            <c:spPr>
              <a:solidFill>
                <a:srgbClr val="70AD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2DE-4A6B-ABE3-27982A1101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932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Isolation Forest</c:v>
                </c:pt>
                <c:pt idx="1">
                  <c:v>One-Class SVM</c:v>
                </c:pt>
                <c:pt idx="2">
                  <c:v>Autoencoder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405</c:v>
                </c:pt>
                <c:pt idx="1">
                  <c:v>405</c:v>
                </c:pt>
                <c:pt idx="2">
                  <c:v>405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2DE-4A6B-ABE3-27982A1101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932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Number of Anomalies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Agreement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99F-4004-A845-6C9348F1F5AB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9F-4004-A845-6C9348F1F5AB}"/>
              </c:ext>
            </c:extLst>
          </c:dPt>
          <c:dPt>
            <c:idx val="2"/>
            <c:bubble3D val="0"/>
            <c:spPr>
              <a:solidFill>
                <a:srgbClr val="95A5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9F-4004-A845-6C9348F1F5AB}"/>
              </c:ext>
            </c:extLst>
          </c:dPt>
          <c:dPt>
            <c:idx val="3"/>
            <c:bubble3D val="0"/>
            <c:spPr>
              <a:solidFill>
                <a:srgbClr val="7DE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99F-4004-A845-6C9348F1F5AB}"/>
              </c:ext>
            </c:extLst>
          </c:dPt>
          <c:dLbls>
            <c:dLbl>
              <c:idx val="0"/>
              <c:layout>
                <c:manualLayout>
                  <c:x val="4.7821046821760554E-2"/>
                  <c:y val="1.136383972512035E-3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599F-4004-A845-6C9348F1F5AB}"/>
                </c:ext>
              </c:extLst>
            </c:dLbl>
            <c:dLbl>
              <c:idx val="1"/>
              <c:layout>
                <c:manualLayout>
                  <c:x val="-7.242573084334486E-2"/>
                  <c:y val="1.0227455752608314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599F-4004-A845-6C9348F1F5AB}"/>
                </c:ext>
              </c:extLst>
            </c:dLbl>
            <c:dLbl>
              <c:idx val="2"/>
              <c:layout>
                <c:manualLayout>
                  <c:x val="-1.6391885530676182E-2"/>
                  <c:y val="1.9318527532704594E-2"/>
                </c:manualLayout>
              </c:layout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599F-4004-A845-6C9348F1F5AB}"/>
                </c:ext>
              </c:extLst>
            </c:dLbl>
            <c:dLbl>
              <c:idx val="3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599F-4004-A845-6C9348F1F5A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All 3 Methods</c:v>
                </c:pt>
                <c:pt idx="1">
                  <c:v>Exactly 2</c:v>
                </c:pt>
                <c:pt idx="2">
                  <c:v>Exactly 1</c:v>
                </c:pt>
                <c:pt idx="3">
                  <c:v>No Method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</c:v>
                </c:pt>
                <c:pt idx="1">
                  <c:v>178</c:v>
                </c:pt>
                <c:pt idx="2">
                  <c:v>343</c:v>
                </c:pt>
                <c:pt idx="3">
                  <c:v>7447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99F-4004-A845-6C9348F1F5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%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9325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Fayoum</c:v>
                </c:pt>
                <c:pt idx="1">
                  <c:v>Sharqia</c:v>
                </c:pt>
                <c:pt idx="2">
                  <c:v>Dakahlia</c:v>
                </c:pt>
                <c:pt idx="3">
                  <c:v>Sohag</c:v>
                </c:pt>
                <c:pt idx="4">
                  <c:v>Cairo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98.6</c:v>
                </c:pt>
                <c:pt idx="1">
                  <c:v>87.2</c:v>
                </c:pt>
                <c:pt idx="2">
                  <c:v>79.8</c:v>
                </c:pt>
                <c:pt idx="3">
                  <c:v>78.2</c:v>
                </c:pt>
                <c:pt idx="4">
                  <c:v>78.099999999999994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92-4CCE-8237-C0B809FC8E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Operator A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Cairo</c:v>
                </c:pt>
                <c:pt idx="1">
                  <c:v>Alexandria</c:v>
                </c:pt>
                <c:pt idx="2">
                  <c:v>Giza</c:v>
                </c:pt>
                <c:pt idx="3">
                  <c:v>Sharqia</c:v>
                </c:pt>
                <c:pt idx="4">
                  <c:v>Dakahlia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38</c:v>
                </c:pt>
                <c:pt idx="2">
                  <c:v>35</c:v>
                </c:pt>
                <c:pt idx="3">
                  <c:v>28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B7-48E7-AB98-2ADF8DDCA2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Operator B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Cairo</c:v>
                </c:pt>
                <c:pt idx="1">
                  <c:v>Alexandria</c:v>
                </c:pt>
                <c:pt idx="2">
                  <c:v>Giza</c:v>
                </c:pt>
                <c:pt idx="3">
                  <c:v>Sharqia</c:v>
                </c:pt>
                <c:pt idx="4">
                  <c:v>Dakahlia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30</c:v>
                </c:pt>
                <c:pt idx="2">
                  <c:v>28</c:v>
                </c:pt>
                <c:pt idx="3">
                  <c:v>22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B7-48E7-AB98-2ADF8DDCA2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Operator C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Cairo</c:v>
                </c:pt>
                <c:pt idx="1">
                  <c:v>Alexandria</c:v>
                </c:pt>
                <c:pt idx="2">
                  <c:v>Giza</c:v>
                </c:pt>
                <c:pt idx="3">
                  <c:v>Sharqia</c:v>
                </c:pt>
                <c:pt idx="4">
                  <c:v>Dakahlia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38</c:v>
                </c:pt>
                <c:pt idx="1">
                  <c:v>35</c:v>
                </c:pt>
                <c:pt idx="2">
                  <c:v>30</c:v>
                </c:pt>
                <c:pt idx="3">
                  <c:v>25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B7-48E7-AB98-2ADF8DDCA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Download (Mbps)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5359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2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711264" y="1351062"/>
            <a:ext cx="10566529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Performance Anomaly Detection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-711264" y="2652713"/>
            <a:ext cx="1056652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0"/>
              </a:spcAft>
              <a:buNone/>
            </a:pPr>
            <a:r>
              <a:rPr lang="en-US" sz="20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 Regions - Daily Signal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26669" y="3582888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0"/>
              </a:spcBef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Project |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866775"/>
            <a:ext cx="8128099" cy="758726"/>
          </a:xfrm>
          <a:prstGeom prst="rect">
            <a:avLst/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866775"/>
            <a:ext cx="0" cy="758726"/>
          </a:xfrm>
          <a:prstGeom prst="line">
            <a:avLst/>
          </a:prstGeom>
          <a:noFill/>
          <a:ln w="57150">
            <a:solidFill>
              <a:srgbClr val="7DE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5600" y="1019175"/>
            <a:ext cx="99969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5600" y="1320701"/>
            <a:ext cx="784374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cities, carriers, or days showing abnormal network performance using anomaly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1777901"/>
            <a:ext cx="8128099" cy="1622078"/>
          </a:xfrm>
          <a:prstGeom prst="rect">
            <a:avLst/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6525" y="1777901"/>
            <a:ext cx="0" cy="1622078"/>
          </a:xfrm>
          <a:prstGeom prst="line">
            <a:avLst/>
          </a:prstGeom>
          <a:noFill/>
          <a:ln w="57150">
            <a:solidFill>
              <a:srgbClr val="7DE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5600" y="1930301"/>
            <a:ext cx="99969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Questions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5600" y="2231827"/>
            <a:ext cx="7689949" cy="965002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marL="114300" indent="-1143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regions show the most variable download speed?</a:t>
            </a:r>
            <a:endParaRPr lang="en-US" sz="1100" dirty="0"/>
          </a:p>
          <a:p>
            <a:pPr marL="114300" indent="-1143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days have abnormal cross-region performance?</a:t>
            </a:r>
            <a:endParaRPr lang="en-US" sz="1100" dirty="0"/>
          </a:p>
          <a:p>
            <a:pPr marL="114300" indent="-1143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consistent is each carrier across regions?</a:t>
            </a:r>
            <a:endParaRPr lang="en-US" sz="1100" dirty="0"/>
          </a:p>
          <a:p>
            <a:pPr marL="114300" indent="-1143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LTE vs 5G anomaly patterns</a:t>
            </a:r>
            <a:endParaRPr lang="en-US" sz="1100" dirty="0"/>
          </a:p>
          <a:p>
            <a:pPr marL="114300" indent="-1143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top 5 worst performing combinations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4401" y="790575"/>
            <a:ext cx="3968800" cy="926902"/>
          </a:xfrm>
          <a:prstGeom prst="roundRect">
            <a:avLst>
              <a:gd name="adj" fmla="val 5481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71351" y="917525"/>
            <a:ext cx="4829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1351" y="1123801"/>
            <a:ext cx="378919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8,086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4401" y="1844427"/>
            <a:ext cx="3968800" cy="926902"/>
          </a:xfrm>
          <a:prstGeom prst="roundRect">
            <a:avLst>
              <a:gd name="adj" fmla="val 5481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351" y="1971377"/>
            <a:ext cx="4829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Range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351" y="2177653"/>
            <a:ext cx="378919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Days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44401" y="2898279"/>
            <a:ext cx="3968800" cy="926902"/>
          </a:xfrm>
          <a:prstGeom prst="roundRect">
            <a:avLst>
              <a:gd name="adj" fmla="val 5481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351" y="3025229"/>
            <a:ext cx="48293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1351" y="3231505"/>
            <a:ext cx="3789197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730651" y="790575"/>
            <a:ext cx="51596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30651" y="1063526"/>
            <a:ext cx="3968948" cy="53012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Speed (kbps)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Speed (kbps)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(ms)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30651" y="1644402"/>
            <a:ext cx="51596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0651" y="1917353"/>
            <a:ext cx="3968948" cy="336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Mobile Carriers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LTE and 5G Technologies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30651" y="2304604"/>
            <a:ext cx="51596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Applied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0651" y="2577554"/>
            <a:ext cx="3968948" cy="336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count &gt;= 5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type = locality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10896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Methods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958751"/>
            <a:ext cx="2667000" cy="2483644"/>
          </a:xfrm>
          <a:prstGeom prst="roundRect">
            <a:avLst>
              <a:gd name="adj" fmla="val 3068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982563"/>
            <a:ext cx="2667000" cy="0"/>
          </a:xfrm>
          <a:prstGeom prst="line">
            <a:avLst/>
          </a:prstGeom>
          <a:noFill/>
          <a:ln w="47625">
            <a:solidFill>
              <a:srgbClr val="0932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1500" y="1196876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Forest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1533376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Ensemble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1500" y="1787277"/>
            <a:ext cx="233172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Isolates anomalies by randomly splitting features. Anomalies require fewer splits to isolate.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" y="2475458"/>
            <a:ext cx="2286000" cy="53012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processing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density estimation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high dimensions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38500" y="958751"/>
            <a:ext cx="2667000" cy="2483644"/>
          </a:xfrm>
          <a:prstGeom prst="roundRect">
            <a:avLst>
              <a:gd name="adj" fmla="val 3068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238500" y="982563"/>
            <a:ext cx="2667000" cy="0"/>
          </a:xfrm>
          <a:prstGeom prst="line">
            <a:avLst/>
          </a:prstGeom>
          <a:noFill/>
          <a:ln w="47625">
            <a:solidFill>
              <a:srgbClr val="0932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196876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One-Class SVM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1533376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Learning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787277"/>
            <a:ext cx="2331720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decision boundary around normal data using kernel functions. Points outside boundary are anomalies.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671018"/>
            <a:ext cx="2286000" cy="53012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boundaries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flexibility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to noise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096000" y="958751"/>
            <a:ext cx="2667000" cy="2483644"/>
          </a:xfrm>
          <a:prstGeom prst="roundRect">
            <a:avLst>
              <a:gd name="adj" fmla="val 3068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096000" y="982563"/>
            <a:ext cx="2667000" cy="0"/>
          </a:xfrm>
          <a:prstGeom prst="line">
            <a:avLst/>
          </a:prstGeom>
          <a:noFill/>
          <a:ln w="47625">
            <a:solidFill>
              <a:srgbClr val="0932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86500" y="1196876"/>
            <a:ext cx="2971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Autoencoder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86500" y="1533376"/>
            <a:ext cx="2971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100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 (PyTorch)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86500" y="1787277"/>
            <a:ext cx="2331720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4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to reconstruct normal data. High reconstruction error indicates anomalies.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6500" y="2475458"/>
            <a:ext cx="2286000" cy="53012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Non-linear patterns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representations</a:t>
            </a:r>
            <a:endParaRPr lang="en-US" sz="1000" dirty="0"/>
          </a:p>
          <a:p>
            <a:pPr marL="95250" indent="-95250" algn="l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Adaptable architecture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10896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Comparison - Anomalies Detected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7950" y="958751"/>
          <a:ext cx="6349901" cy="3174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04850"/>
          </a:xfrm>
          <a:prstGeom prst="rect">
            <a:avLst/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90500"/>
            <a:ext cx="10896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 Agreement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7950" y="958751"/>
            <a:ext cx="54933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Detection Overlap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114627" y="1055638"/>
            <a:ext cx="3521422" cy="949226"/>
          </a:xfrm>
          <a:prstGeom prst="roundRect">
            <a:avLst>
              <a:gd name="adj" fmla="val 5352"/>
            </a:avLst>
          </a:prstGeom>
          <a:solidFill>
            <a:srgbClr val="7DE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05127" y="1246138"/>
            <a:ext cx="40825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Confidence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5127" y="1509564"/>
            <a:ext cx="32032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anomalies detected by all 3 methods represent highest confidence issues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14627" y="2157264"/>
            <a:ext cx="3521422" cy="949226"/>
          </a:xfrm>
          <a:prstGeom prst="roundRect">
            <a:avLst>
              <a:gd name="adj" fmla="val 5352"/>
            </a:avLst>
          </a:prstGeom>
          <a:solidFill>
            <a:srgbClr val="7DE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305127" y="2347764"/>
            <a:ext cx="40825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Consensus Rate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5127" y="2611189"/>
            <a:ext cx="32032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 anomalies agreed upon by 2+ methods (39% of total)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14627" y="3258889"/>
            <a:ext cx="3521422" cy="733425"/>
          </a:xfrm>
          <a:prstGeom prst="roundRect">
            <a:avLst>
              <a:gd name="adj" fmla="val 6926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67027" y="3411289"/>
            <a:ext cx="328095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consensus approach reduces false positives and identifies most critical network issues requiring immediate attention</a:t>
            </a:r>
            <a:endParaRPr lang="en-US" sz="100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99240455"/>
              </p:ext>
            </p:extLst>
          </p:nvPr>
        </p:nvGraphicFramePr>
        <p:xfrm>
          <a:off x="507950" y="1295251"/>
          <a:ext cx="4063901" cy="2793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Regional Download Speed Variability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4401" y="752475"/>
            <a:ext cx="5673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Most Variable Regions (by CV%)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4401" y="1050875"/>
            <a:ext cx="4364385" cy="603052"/>
          </a:xfrm>
          <a:prstGeom prst="roundRect">
            <a:avLst>
              <a:gd name="adj" fmla="val 6318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1351" y="123810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3802" y="1285726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26902" y="1280964"/>
            <a:ext cx="3389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Fayoum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49638" y="1266676"/>
            <a:ext cx="440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98.6%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4401" y="1730127"/>
            <a:ext cx="4364385" cy="603052"/>
          </a:xfrm>
          <a:prstGeom prst="roundRect">
            <a:avLst>
              <a:gd name="adj" fmla="val 6318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1351" y="1917353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3802" y="1964978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26902" y="1960215"/>
            <a:ext cx="3389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Sharqia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49638" y="1945928"/>
            <a:ext cx="440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87.2%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4401" y="2409379"/>
            <a:ext cx="4364385" cy="603052"/>
          </a:xfrm>
          <a:prstGeom prst="roundRect">
            <a:avLst>
              <a:gd name="adj" fmla="val 6318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71351" y="25966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3802" y="264422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26902" y="2639467"/>
            <a:ext cx="3389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Dakahlia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49638" y="2625179"/>
            <a:ext cx="440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79.8%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4401" y="3088630"/>
            <a:ext cx="4364385" cy="603052"/>
          </a:xfrm>
          <a:prstGeom prst="roundRect">
            <a:avLst>
              <a:gd name="adj" fmla="val 6318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71351" y="3275856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53802" y="3323481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6902" y="3318718"/>
            <a:ext cx="3389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Sohag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49638" y="3304431"/>
            <a:ext cx="440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78.2%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44401" y="3767882"/>
            <a:ext cx="4364385" cy="603052"/>
          </a:xfrm>
          <a:prstGeom prst="roundRect">
            <a:avLst>
              <a:gd name="adj" fmla="val 6318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71351" y="3955107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3802" y="4002732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26902" y="3997970"/>
            <a:ext cx="33891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Cairo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49638" y="3983682"/>
            <a:ext cx="44084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7DE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78.1%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62686" y="752475"/>
            <a:ext cx="472798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Variability Distribution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62686" y="3082826"/>
            <a:ext cx="3636913" cy="726877"/>
          </a:xfrm>
          <a:prstGeom prst="roundRect">
            <a:avLst>
              <a:gd name="adj" fmla="val 5242"/>
            </a:avLst>
          </a:prstGeom>
          <a:solidFill>
            <a:srgbClr val="7DE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189637" y="3209776"/>
            <a:ext cx="4397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89637" y="3416052"/>
            <a:ext cx="34506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Fayoum shows highest variability (CV=98.6%), indicating significant day-to-day performance fluctuations</a:t>
            </a:r>
            <a:endParaRPr lang="en-US" sz="90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5062686" y="1050875"/>
          <a:ext cx="3301901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Carrier Performance Consistency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44401" y="790575"/>
            <a:ext cx="56737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Comparison Across Regions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62686" y="790575"/>
            <a:ext cx="3636913" cy="876002"/>
          </a:xfrm>
          <a:prstGeom prst="roundRect">
            <a:avLst>
              <a:gd name="adj" fmla="val 4349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86499" y="790575"/>
            <a:ext cx="0" cy="876002"/>
          </a:xfrm>
          <a:prstGeom prst="line">
            <a:avLst/>
          </a:prstGeom>
          <a:noFill/>
          <a:ln w="47625">
            <a:solidFill>
              <a:srgbClr val="7DE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7262" y="892076"/>
            <a:ext cx="4336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37262" y="1082576"/>
            <a:ext cx="34020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consistent performance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48798" y="1279327"/>
            <a:ext cx="68208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232822" y="1450777"/>
            <a:ext cx="452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Mbps Avg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843421" y="1279327"/>
            <a:ext cx="1026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36130" y="1450777"/>
            <a:ext cx="440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Low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62686" y="1768078"/>
            <a:ext cx="3636913" cy="876002"/>
          </a:xfrm>
          <a:prstGeom prst="roundRect">
            <a:avLst>
              <a:gd name="adj" fmla="val 4349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86499" y="1768078"/>
            <a:ext cx="0" cy="876002"/>
          </a:xfrm>
          <a:prstGeom prst="line">
            <a:avLst/>
          </a:prstGeom>
          <a:noFill/>
          <a:ln w="47625">
            <a:solidFill>
              <a:srgbClr val="7DE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7262" y="1869579"/>
            <a:ext cx="4336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37262" y="2060079"/>
            <a:ext cx="34020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variability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48798" y="2256830"/>
            <a:ext cx="68208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32822" y="2428280"/>
            <a:ext cx="452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Mbps Avg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43421" y="2256830"/>
            <a:ext cx="1026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24.3%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6130" y="2428280"/>
            <a:ext cx="440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Med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62686" y="2745581"/>
            <a:ext cx="3636913" cy="876002"/>
          </a:xfrm>
          <a:prstGeom prst="roundRect">
            <a:avLst>
              <a:gd name="adj" fmla="val 4349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5086499" y="2745581"/>
            <a:ext cx="0" cy="876002"/>
          </a:xfrm>
          <a:prstGeom prst="line">
            <a:avLst/>
          </a:prstGeom>
          <a:noFill/>
          <a:ln w="47625">
            <a:solidFill>
              <a:srgbClr val="7DE5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7262" y="2847082"/>
            <a:ext cx="43360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Operator 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37262" y="3037582"/>
            <a:ext cx="34020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variation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048798" y="3234333"/>
            <a:ext cx="68208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232822" y="3405783"/>
            <a:ext cx="4528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Mbps Avg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43421" y="3234333"/>
            <a:ext cx="10262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35.8%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36130" y="3405783"/>
            <a:ext cx="4408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High</a:t>
            </a:r>
            <a:endParaRPr lang="en-US" sz="80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444401" y="1088975"/>
          <a:ext cx="3810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LTE vs 5G Anomaly Comparison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07950" y="790575"/>
            <a:ext cx="3873550" cy="3596134"/>
          </a:xfrm>
          <a:prstGeom prst="roundRect">
            <a:avLst>
              <a:gd name="adj" fmla="val 2119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814388"/>
            <a:ext cx="3873550" cy="0"/>
          </a:xfrm>
          <a:prstGeom prst="line">
            <a:avLst/>
          </a:prstGeom>
          <a:noFill/>
          <a:ln w="47625">
            <a:solidFill>
              <a:srgbClr val="447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5038" y="990600"/>
            <a:ext cx="4639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LTE Technology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0350" y="1327100"/>
            <a:ext cx="3568750" cy="812602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6989" y="1428601"/>
            <a:ext cx="4375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8194" y="1600051"/>
            <a:ext cx="34330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60350" y="2241203"/>
            <a:ext cx="3568750" cy="812602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56989" y="2342704"/>
            <a:ext cx="4375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28194" y="2514154"/>
            <a:ext cx="34330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0350" y="3155305"/>
            <a:ext cx="3568750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6989" y="3256806"/>
            <a:ext cx="4375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DOWNLOAD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28194" y="3428256"/>
            <a:ext cx="34330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 Mbps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62500" y="790575"/>
            <a:ext cx="3873550" cy="3596134"/>
          </a:xfrm>
          <a:prstGeom prst="roundRect">
            <a:avLst>
              <a:gd name="adj" fmla="val 2119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0" y="814388"/>
            <a:ext cx="3873550" cy="0"/>
          </a:xfrm>
          <a:prstGeom prst="line">
            <a:avLst/>
          </a:prstGeom>
          <a:noFill/>
          <a:ln w="47625">
            <a:solidFill>
              <a:srgbClr val="7DE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79588" y="990600"/>
            <a:ext cx="4639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Technology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4900" y="1327100"/>
            <a:ext cx="3568750" cy="812602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11539" y="1428601"/>
            <a:ext cx="4375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RECORDS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82743" y="1600051"/>
            <a:ext cx="34330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2,779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14900" y="2241203"/>
            <a:ext cx="3568750" cy="812602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11539" y="2342704"/>
            <a:ext cx="4375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2743" y="2514154"/>
            <a:ext cx="34330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914900" y="3155305"/>
            <a:ext cx="3568750" cy="641152"/>
          </a:xfrm>
          <a:prstGeom prst="roundRect">
            <a:avLst>
              <a:gd name="adj" fmla="val 5942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11539" y="3256806"/>
            <a:ext cx="4375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DOWNLOAD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82743" y="3428256"/>
            <a:ext cx="34330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45.2 Mbps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914900" y="3897957"/>
            <a:ext cx="3568750" cy="336352"/>
          </a:xfrm>
          <a:prstGeom prst="roundRect">
            <a:avLst>
              <a:gd name="adj" fmla="val 11327"/>
            </a:avLst>
          </a:prstGeom>
          <a:solidFill>
            <a:srgbClr val="7DE5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82743" y="3999458"/>
            <a:ext cx="34330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shows higher anomaly rate due to network expansion phase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00075"/>
          </a:xfrm>
          <a:prstGeom prst="rect">
            <a:avLst/>
          </a:prstGeom>
          <a:solidFill>
            <a:srgbClr val="09325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152400"/>
            <a:ext cx="108966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Top 5 Worst Performing Combinations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17450" y="727025"/>
            <a:ext cx="110618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Worst Score (Download 40%, Upload 20%, Latency 30%, Anomaly Flags 10%)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7450" y="971401"/>
            <a:ext cx="8509099" cy="409575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36500" y="971401"/>
            <a:ext cx="0" cy="409575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2501" y="1074539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2152" y="1109514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12602" y="1047601"/>
            <a:ext cx="16414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Fayoum - Operator 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12602" y="1190476"/>
            <a:ext cx="1287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2026-03-20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542383" y="1057126"/>
            <a:ext cx="706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Mbps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42383" y="1200001"/>
            <a:ext cx="554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276106" y="1057126"/>
            <a:ext cx="5599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280 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76106" y="1200001"/>
            <a:ext cx="4393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173938" y="1049238"/>
            <a:ext cx="525661" cy="253901"/>
          </a:xfrm>
          <a:prstGeom prst="roundRect">
            <a:avLst>
              <a:gd name="adj" fmla="val 1500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03858" y="1099989"/>
            <a:ext cx="8658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7450" y="1444377"/>
            <a:ext cx="8509099" cy="409575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336500" y="1444377"/>
            <a:ext cx="0" cy="409575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501" y="154751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52152" y="158248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2602" y="1520577"/>
            <a:ext cx="1614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Sharqia - Operator 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12602" y="1663452"/>
            <a:ext cx="126650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2026-03-20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96544" y="1530102"/>
            <a:ext cx="798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43.1 Mbps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96544" y="1672977"/>
            <a:ext cx="6261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300960" y="1530102"/>
            <a:ext cx="5599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272 ms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0960" y="1672977"/>
            <a:ext cx="4393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173938" y="1522214"/>
            <a:ext cx="525661" cy="253901"/>
          </a:xfrm>
          <a:prstGeom prst="roundRect">
            <a:avLst>
              <a:gd name="adj" fmla="val 1500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003858" y="1572964"/>
            <a:ext cx="8658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17450" y="1917353"/>
            <a:ext cx="8509099" cy="409575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36500" y="1917353"/>
            <a:ext cx="0" cy="409575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501" y="202049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2152" y="2055465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2602" y="1993553"/>
            <a:ext cx="164145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Fayoum - Operator 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12602" y="2136428"/>
            <a:ext cx="1287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42383" y="2003078"/>
            <a:ext cx="706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Mbps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42383" y="2145953"/>
            <a:ext cx="554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276106" y="2003078"/>
            <a:ext cx="5599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222 ms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76106" y="2145953"/>
            <a:ext cx="4393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173938" y="1995190"/>
            <a:ext cx="525661" cy="253901"/>
          </a:xfrm>
          <a:prstGeom prst="roundRect">
            <a:avLst>
              <a:gd name="adj" fmla="val 1500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03858" y="2045940"/>
            <a:ext cx="8658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0.82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17450" y="2390329"/>
            <a:ext cx="8509099" cy="409575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36500" y="2390329"/>
            <a:ext cx="0" cy="409575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501" y="2493466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2152" y="2528441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12602" y="2466529"/>
            <a:ext cx="153465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Aswan - Operator A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12602" y="2609404"/>
            <a:ext cx="12041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2026-03-18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466034" y="2476054"/>
            <a:ext cx="798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 Mbps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466034" y="2618929"/>
            <a:ext cx="6261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270450" y="2476054"/>
            <a:ext cx="5599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 ms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70450" y="2618929"/>
            <a:ext cx="4393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173938" y="2468166"/>
            <a:ext cx="525661" cy="253901"/>
          </a:xfrm>
          <a:prstGeom prst="roundRect">
            <a:avLst>
              <a:gd name="adj" fmla="val 1500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003858" y="2518916"/>
            <a:ext cx="8658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0.78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17450" y="2863304"/>
            <a:ext cx="8509099" cy="409575"/>
          </a:xfrm>
          <a:prstGeom prst="roundRect">
            <a:avLst>
              <a:gd name="adj" fmla="val 9302"/>
            </a:avLst>
          </a:prstGeom>
          <a:solidFill>
            <a:srgbClr val="F5F8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336500" y="2863304"/>
            <a:ext cx="0" cy="409575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82501" y="2966442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52152" y="3001417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12602" y="2939504"/>
            <a:ext cx="1512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932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Sohag - Operator 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12602" y="3082379"/>
            <a:ext cx="118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2026-03-22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492972" y="2949029"/>
            <a:ext cx="7061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 Mbps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492972" y="3091904"/>
            <a:ext cx="55408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226695" y="2949029"/>
            <a:ext cx="5599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 ms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226695" y="3091904"/>
            <a:ext cx="43932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8173938" y="2941141"/>
            <a:ext cx="525661" cy="253901"/>
          </a:xfrm>
          <a:prstGeom prst="roundRect">
            <a:avLst>
              <a:gd name="adj" fmla="val 15006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8003858" y="2991892"/>
            <a:ext cx="8658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499</Words>
  <Application>Microsoft Office PowerPoint</Application>
  <PresentationFormat>On-screen Show (16:9)</PresentationFormat>
  <Paragraphs>170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Performance Anomaly Detection</dc:title>
  <dc:subject>Egypt Regions Daily Signal Analysis</dc:subject>
  <dc:creator>Data Science Team</dc:creator>
  <cp:lastModifiedBy>Mahmoud Ashraf Mahmoud</cp:lastModifiedBy>
  <cp:revision>2</cp:revision>
  <dcterms:created xsi:type="dcterms:W3CDTF">2026-03-27T02:52:22Z</dcterms:created>
  <dcterms:modified xsi:type="dcterms:W3CDTF">2026-03-27T03:05:18Z</dcterms:modified>
</cp:coreProperties>
</file>